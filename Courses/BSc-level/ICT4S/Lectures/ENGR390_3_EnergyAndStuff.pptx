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305" r:id="rId4"/>
    <p:sldId id="307" r:id="rId5"/>
    <p:sldId id="306" r:id="rId6"/>
    <p:sldId id="308" r:id="rId7"/>
    <p:sldId id="309" r:id="rId8"/>
    <p:sldId id="310" r:id="rId9"/>
    <p:sldId id="311" r:id="rId10"/>
    <p:sldId id="312" r:id="rId11"/>
    <p:sldId id="313" r:id="rId12"/>
    <p:sldId id="314" r:id="rId13"/>
    <p:sldId id="315" r:id="rId14"/>
    <p:sldId id="316" r:id="rId15"/>
    <p:sldId id="317" r:id="rId16"/>
    <p:sldId id="318" r:id="rId17"/>
    <p:sldId id="303" r:id="rId18"/>
    <p:sldId id="304" r:id="rId19"/>
    <p:sldId id="25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4"/>
    <p:restoredTop sz="88251" autoAdjust="0"/>
  </p:normalViewPr>
  <p:slideViewPr>
    <p:cSldViewPr snapToGrid="0" snapToObjects="1">
      <p:cViewPr varScale="1">
        <p:scale>
          <a:sx n="100" d="100"/>
          <a:sy n="100" d="100"/>
        </p:scale>
        <p:origin x="472"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1566728-C1BB-B84D-900A-C4D00822FC5B}" type="datetimeFigureOut">
              <a:rPr lang="en-US" smtClean="0"/>
              <a:t>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2118103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566728-C1BB-B84D-900A-C4D00822FC5B}" type="datetimeFigureOut">
              <a:rPr lang="en-US" smtClean="0"/>
              <a:t>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217991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66728-C1BB-B84D-900A-C4D00822FC5B}" type="datetimeFigureOut">
              <a:rPr lang="en-US" smtClean="0"/>
              <a:t>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2814126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566728-C1BB-B84D-900A-C4D00822FC5B}" type="datetimeFigureOut">
              <a:rPr lang="en-US" smtClean="0"/>
              <a:t>2/3/19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1175648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1566728-C1BB-B84D-900A-C4D00822FC5B}" type="datetimeFigureOut">
              <a:rPr lang="en-US" smtClean="0"/>
              <a:t>2/3/19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870003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1566728-C1BB-B84D-900A-C4D00822FC5B}" type="datetimeFigureOut">
              <a:rPr lang="en-US" smtClean="0"/>
              <a:t>2/3/19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2019163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566728-C1BB-B84D-900A-C4D00822FC5B}" type="datetimeFigureOut">
              <a:rPr lang="en-US" smtClean="0"/>
              <a:t>2/3/19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1807662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566728-C1BB-B84D-900A-C4D00822FC5B}" type="datetimeFigureOut">
              <a:rPr lang="en-US" smtClean="0"/>
              <a:t>2/3/19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305365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566728-C1BB-B84D-900A-C4D00822FC5B}" type="datetimeFigureOut">
              <a:rPr lang="en-US" smtClean="0"/>
              <a:t>2/3/19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1129662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566728-C1BB-B84D-900A-C4D00822FC5B}" type="datetimeFigureOut">
              <a:rPr lang="en-US" smtClean="0"/>
              <a:t>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3980374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566728-C1BB-B84D-900A-C4D00822FC5B}" type="datetimeFigureOut">
              <a:rPr lang="en-US" smtClean="0"/>
              <a:t>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BE450-8EC0-7F4F-9AE6-59C05895CDF8}" type="slidenum">
              <a:rPr lang="en-US" smtClean="0"/>
              <a:t>‹#›</a:t>
            </a:fld>
            <a:endParaRPr lang="en-US"/>
          </a:p>
        </p:txBody>
      </p:sp>
    </p:spTree>
    <p:extLst>
      <p:ext uri="{BB962C8B-B14F-4D97-AF65-F5344CB8AC3E}">
        <p14:creationId xmlns:p14="http://schemas.microsoft.com/office/powerpoint/2010/main" val="343815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66728-C1BB-B84D-900A-C4D00822FC5B}" type="datetimeFigureOut">
              <a:rPr lang="en-US" smtClean="0"/>
              <a:t>2/3/19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ENGR 390, Dr. Penzenstadler, CSULB</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BE450-8EC0-7F4F-9AE6-59C05895CDF8}" type="slidenum">
              <a:rPr lang="en-US" smtClean="0"/>
              <a:t>‹#›</a:t>
            </a:fld>
            <a:r>
              <a:rPr lang="en-US" dirty="0"/>
              <a:t> </a:t>
            </a:r>
          </a:p>
        </p:txBody>
      </p:sp>
      <p:pic>
        <p:nvPicPr>
          <p:cNvPr id="10" name="Picture 9" descr="88x31.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6608989"/>
            <a:ext cx="688680" cy="242602"/>
          </a:xfrm>
          <a:prstGeom prst="rect">
            <a:avLst/>
          </a:prstGeom>
        </p:spPr>
      </p:pic>
    </p:spTree>
    <p:extLst>
      <p:ext uri="{BB962C8B-B14F-4D97-AF65-F5344CB8AC3E}">
        <p14:creationId xmlns:p14="http://schemas.microsoft.com/office/powerpoint/2010/main" val="3070124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iguel-sousa-420598.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8300"/>
            <a:ext cx="9144000" cy="6108192"/>
          </a:xfrm>
          <a:prstGeom prst="rect">
            <a:avLst/>
          </a:prstGeom>
        </p:spPr>
      </p:pic>
      <p:sp>
        <p:nvSpPr>
          <p:cNvPr id="2" name="Title 1"/>
          <p:cNvSpPr>
            <a:spLocks noGrp="1"/>
          </p:cNvSpPr>
          <p:nvPr>
            <p:ph type="ctrTitle"/>
          </p:nvPr>
        </p:nvSpPr>
        <p:spPr>
          <a:xfrm>
            <a:off x="447736" y="1818529"/>
            <a:ext cx="8010464" cy="1470025"/>
          </a:xfrm>
        </p:spPr>
        <p:txBody>
          <a:bodyPr>
            <a:normAutofit fontScale="90000"/>
          </a:bodyPr>
          <a:lstStyle/>
          <a:p>
            <a:r>
              <a:rPr lang="en-US" b="1" dirty="0">
                <a:solidFill>
                  <a:srgbClr val="FFFFFF"/>
                </a:solidFill>
              </a:rPr>
              <a:t>ENGR 390 </a:t>
            </a:r>
            <a:r>
              <a:rPr lang="mr-IN" b="1" dirty="0">
                <a:solidFill>
                  <a:srgbClr val="FFFFFF"/>
                </a:solidFill>
              </a:rPr>
              <a:t>–</a:t>
            </a:r>
            <a:r>
              <a:rPr lang="en-US" b="1" dirty="0">
                <a:solidFill>
                  <a:srgbClr val="FFFFFF"/>
                </a:solidFill>
              </a:rPr>
              <a:t> Information and Communication Technology for Sustainability</a:t>
            </a:r>
            <a:br>
              <a:rPr lang="en-US" b="1" dirty="0">
                <a:solidFill>
                  <a:srgbClr val="FFFFFF"/>
                </a:solidFill>
              </a:rPr>
            </a:br>
            <a:r>
              <a:rPr lang="en-US" b="1" dirty="0">
                <a:solidFill>
                  <a:srgbClr val="FFFFFF"/>
                </a:solidFill>
              </a:rPr>
              <a:t>“</a:t>
            </a:r>
            <a:r>
              <a:rPr lang="en-US" b="1" i="1" dirty="0">
                <a:solidFill>
                  <a:srgbClr val="FFFFFF"/>
                </a:solidFill>
              </a:rPr>
              <a:t>Renewable energy and smart grids: Production and potential</a:t>
            </a:r>
            <a:r>
              <a:rPr lang="en-US" b="1" dirty="0">
                <a:solidFill>
                  <a:srgbClr val="FFFFFF"/>
                </a:solidFill>
              </a:rPr>
              <a:t>”</a:t>
            </a:r>
            <a:endParaRPr lang="en-US" b="1" i="1" dirty="0">
              <a:solidFill>
                <a:srgbClr val="FFFFFF"/>
              </a:solidFill>
            </a:endParaRPr>
          </a:p>
        </p:txBody>
      </p:sp>
      <p:sp>
        <p:nvSpPr>
          <p:cNvPr id="3" name="Subtitle 2"/>
          <p:cNvSpPr>
            <a:spLocks noGrp="1"/>
          </p:cNvSpPr>
          <p:nvPr>
            <p:ph type="subTitle" idx="1"/>
          </p:nvPr>
        </p:nvSpPr>
        <p:spPr>
          <a:xfrm>
            <a:off x="1371600" y="4854222"/>
            <a:ext cx="6400800" cy="784578"/>
          </a:xfrm>
        </p:spPr>
        <p:txBody>
          <a:bodyPr/>
          <a:lstStyle/>
          <a:p>
            <a:r>
              <a:rPr lang="en-US" b="1" dirty="0">
                <a:solidFill>
                  <a:srgbClr val="FFFFFF"/>
                </a:solidFill>
              </a:rPr>
              <a:t>Dr. Birgit Penzenstadler</a:t>
            </a:r>
          </a:p>
        </p:txBody>
      </p:sp>
      <p:sp>
        <p:nvSpPr>
          <p:cNvPr id="5" name="TextBox 4"/>
          <p:cNvSpPr txBox="1"/>
          <p:nvPr/>
        </p:nvSpPr>
        <p:spPr>
          <a:xfrm>
            <a:off x="1128969" y="6457890"/>
            <a:ext cx="2418037" cy="400110"/>
          </a:xfrm>
          <a:prstGeom prst="rect">
            <a:avLst/>
          </a:prstGeom>
          <a:noFill/>
        </p:spPr>
        <p:txBody>
          <a:bodyPr wrap="none" rtlCol="0">
            <a:spAutoFit/>
          </a:bodyPr>
          <a:lstStyle/>
          <a:p>
            <a:r>
              <a:rPr lang="en-US" sz="1000" dirty="0"/>
              <a:t>CC Attribution-</a:t>
            </a:r>
            <a:r>
              <a:rPr lang="en-US" sz="1000" dirty="0" err="1"/>
              <a:t>NonCommercial</a:t>
            </a:r>
            <a:r>
              <a:rPr lang="en-US" sz="1000" dirty="0"/>
              <a:t>-</a:t>
            </a:r>
            <a:r>
              <a:rPr lang="en-US" sz="1000" dirty="0" err="1"/>
              <a:t>ShareAlike</a:t>
            </a:r>
            <a:r>
              <a:rPr lang="en-US" sz="1000" dirty="0"/>
              <a:t> </a:t>
            </a:r>
          </a:p>
          <a:p>
            <a:r>
              <a:rPr lang="en-US" sz="1000" dirty="0"/>
              <a:t>unless specified otherwise on the slides.</a:t>
            </a:r>
          </a:p>
        </p:txBody>
      </p:sp>
      <p:pic>
        <p:nvPicPr>
          <p:cNvPr id="6" name="Picture 5" descr="88x3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57890"/>
            <a:ext cx="1117600" cy="393700"/>
          </a:xfrm>
          <a:prstGeom prst="rect">
            <a:avLst/>
          </a:prstGeom>
        </p:spPr>
      </p:pic>
      <p:sp>
        <p:nvSpPr>
          <p:cNvPr id="7" name="TextBox 6"/>
          <p:cNvSpPr txBox="1"/>
          <p:nvPr/>
        </p:nvSpPr>
        <p:spPr>
          <a:xfrm>
            <a:off x="6868871" y="6214028"/>
            <a:ext cx="2122421" cy="246221"/>
          </a:xfrm>
          <a:prstGeom prst="rect">
            <a:avLst/>
          </a:prstGeom>
          <a:noFill/>
        </p:spPr>
        <p:txBody>
          <a:bodyPr wrap="none" rtlCol="0">
            <a:spAutoFit/>
          </a:bodyPr>
          <a:lstStyle/>
          <a:p>
            <a:r>
              <a:rPr lang="en-US" sz="1000" dirty="0">
                <a:solidFill>
                  <a:srgbClr val="FFFFFF"/>
                </a:solidFill>
              </a:rPr>
              <a:t>Photo credit: Miguel Sousa, </a:t>
            </a:r>
            <a:r>
              <a:rPr lang="en-US" sz="1000" dirty="0" err="1">
                <a:solidFill>
                  <a:srgbClr val="FFFFFF"/>
                </a:solidFill>
              </a:rPr>
              <a:t>Unsplash</a:t>
            </a:r>
            <a:endParaRPr lang="en-US" sz="1000" dirty="0">
              <a:solidFill>
                <a:srgbClr val="FFFFFF"/>
              </a:solidFill>
            </a:endParaRPr>
          </a:p>
        </p:txBody>
      </p:sp>
    </p:spTree>
    <p:extLst>
      <p:ext uri="{BB962C8B-B14F-4D97-AF65-F5344CB8AC3E}">
        <p14:creationId xmlns:p14="http://schemas.microsoft.com/office/powerpoint/2010/main" val="1379555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Overview</a:t>
            </a:r>
          </a:p>
        </p:txBody>
      </p:sp>
      <p:sp>
        <p:nvSpPr>
          <p:cNvPr id="3" name="Content Placeholder 2"/>
          <p:cNvSpPr>
            <a:spLocks noGrp="1"/>
          </p:cNvSpPr>
          <p:nvPr>
            <p:ph idx="1"/>
          </p:nvPr>
        </p:nvSpPr>
        <p:spPr>
          <a:xfrm>
            <a:off x="457200" y="1600200"/>
            <a:ext cx="8229600" cy="4749302"/>
          </a:xfrm>
        </p:spPr>
        <p:txBody>
          <a:bodyPr>
            <a:normAutofit/>
          </a:bodyPr>
          <a:lstStyle/>
          <a:p>
            <a:r>
              <a:rPr lang="en-US" dirty="0"/>
              <a:t>Renewable energy</a:t>
            </a:r>
          </a:p>
          <a:p>
            <a:r>
              <a:rPr lang="en-US" dirty="0"/>
              <a:t>Smart grids</a:t>
            </a:r>
          </a:p>
          <a:p>
            <a:r>
              <a:rPr lang="en-US" dirty="0"/>
              <a:t>The story of stuff</a:t>
            </a:r>
          </a:p>
        </p:txBody>
      </p:sp>
      <p:pic>
        <p:nvPicPr>
          <p:cNvPr id="4" name="Picture 3" descr="download.png"/>
          <p:cNvPicPr>
            <a:picLocks noChangeAspect="1"/>
          </p:cNvPicPr>
          <p:nvPr/>
        </p:nvPicPr>
        <p:blipFill rotWithShape="1">
          <a:blip r:embed="rId2">
            <a:extLst>
              <a:ext uri="{28A0092B-C50C-407E-A947-70E740481C1C}">
                <a14:useLocalDpi xmlns:a14="http://schemas.microsoft.com/office/drawing/2010/main" val="0"/>
              </a:ext>
            </a:extLst>
          </a:blip>
          <a:srcRect l="13119" r="18196"/>
          <a:stretch/>
        </p:blipFill>
        <p:spPr>
          <a:xfrm>
            <a:off x="6614338" y="0"/>
            <a:ext cx="2529662" cy="2209800"/>
          </a:xfrm>
          <a:prstGeom prst="rect">
            <a:avLst/>
          </a:prstGeom>
        </p:spPr>
      </p:pic>
    </p:spTree>
    <p:extLst>
      <p:ext uri="{BB962C8B-B14F-4D97-AF65-F5344CB8AC3E}">
        <p14:creationId xmlns:p14="http://schemas.microsoft.com/office/powerpoint/2010/main" val="3607542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Renewable energy</a:t>
            </a:r>
          </a:p>
        </p:txBody>
      </p:sp>
      <p:sp>
        <p:nvSpPr>
          <p:cNvPr id="3" name="Content Placeholder 2"/>
          <p:cNvSpPr>
            <a:spLocks noGrp="1"/>
          </p:cNvSpPr>
          <p:nvPr>
            <p:ph idx="1"/>
          </p:nvPr>
        </p:nvSpPr>
        <p:spPr/>
        <p:txBody>
          <a:bodyPr/>
          <a:lstStyle/>
          <a:p>
            <a:r>
              <a:rPr lang="en-US" dirty="0"/>
              <a:t>Renewable energy is energy that is collected from renewable resources, which are naturally replenished on a human timescale, such as sunlight, wind, rain, tides, waves, and geothermal heat. </a:t>
            </a:r>
          </a:p>
        </p:txBody>
      </p:sp>
      <p:pic>
        <p:nvPicPr>
          <p:cNvPr id="4" name="Picture 3" descr="image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4664" y="3954088"/>
            <a:ext cx="3289300" cy="2463800"/>
          </a:xfrm>
          <a:prstGeom prst="rect">
            <a:avLst/>
          </a:prstGeom>
        </p:spPr>
      </p:pic>
      <p:sp>
        <p:nvSpPr>
          <p:cNvPr id="5" name="Rectangle 4"/>
          <p:cNvSpPr/>
          <p:nvPr/>
        </p:nvSpPr>
        <p:spPr>
          <a:xfrm>
            <a:off x="5576863" y="6585013"/>
            <a:ext cx="3567137" cy="276999"/>
          </a:xfrm>
          <a:prstGeom prst="rect">
            <a:avLst/>
          </a:prstGeom>
        </p:spPr>
        <p:txBody>
          <a:bodyPr wrap="square">
            <a:spAutoFit/>
          </a:bodyPr>
          <a:lstStyle/>
          <a:p>
            <a:r>
              <a:rPr lang="en-US" sz="1200" dirty="0"/>
              <a:t>https://</a:t>
            </a:r>
            <a:r>
              <a:rPr lang="en-US" sz="1200" dirty="0" err="1"/>
              <a:t>www.nrel.gov</a:t>
            </a:r>
            <a:r>
              <a:rPr lang="en-US" sz="1200" dirty="0"/>
              <a:t>/</a:t>
            </a:r>
            <a:r>
              <a:rPr lang="en-US" sz="1200" dirty="0" err="1"/>
              <a:t>workingwithus</a:t>
            </a:r>
            <a:r>
              <a:rPr lang="en-US" sz="1200" dirty="0"/>
              <a:t>/</a:t>
            </a:r>
            <a:r>
              <a:rPr lang="en-US" sz="1200" dirty="0" err="1"/>
              <a:t>learning.html</a:t>
            </a:r>
            <a:endParaRPr lang="en-US" sz="1200" dirty="0"/>
          </a:p>
        </p:txBody>
      </p:sp>
    </p:spTree>
    <p:extLst>
      <p:ext uri="{BB962C8B-B14F-4D97-AF65-F5344CB8AC3E}">
        <p14:creationId xmlns:p14="http://schemas.microsoft.com/office/powerpoint/2010/main" val="2771798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Renewable energy overview</a:t>
            </a:r>
          </a:p>
        </p:txBody>
      </p:sp>
      <p:pic>
        <p:nvPicPr>
          <p:cNvPr id="5" name="Picture 4" descr="_894214_orig.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949"/>
            <a:ext cx="9144000" cy="6400800"/>
          </a:xfrm>
          <a:prstGeom prst="rect">
            <a:avLst/>
          </a:prstGeom>
        </p:spPr>
      </p:pic>
      <p:sp>
        <p:nvSpPr>
          <p:cNvPr id="6" name="TextBox 5"/>
          <p:cNvSpPr txBox="1"/>
          <p:nvPr/>
        </p:nvSpPr>
        <p:spPr>
          <a:xfrm>
            <a:off x="4684561" y="6581001"/>
            <a:ext cx="4551772" cy="276999"/>
          </a:xfrm>
          <a:prstGeom prst="rect">
            <a:avLst/>
          </a:prstGeom>
          <a:noFill/>
        </p:spPr>
        <p:txBody>
          <a:bodyPr wrap="none" rtlCol="0">
            <a:spAutoFit/>
          </a:bodyPr>
          <a:lstStyle/>
          <a:p>
            <a:r>
              <a:rPr lang="en-US" sz="1200" dirty="0"/>
              <a:t>https://ohs9sciencestelr.weebly.com/renewable-energy-</a:t>
            </a:r>
            <a:r>
              <a:rPr lang="en-US" sz="1200" dirty="0" err="1"/>
              <a:t>sources.html</a:t>
            </a:r>
            <a:endParaRPr lang="en-US" sz="1200" dirty="0"/>
          </a:p>
        </p:txBody>
      </p:sp>
    </p:spTree>
    <p:extLst>
      <p:ext uri="{BB962C8B-B14F-4D97-AF65-F5344CB8AC3E}">
        <p14:creationId xmlns:p14="http://schemas.microsoft.com/office/powerpoint/2010/main" val="2498533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Energy: Status quo</a:t>
            </a:r>
          </a:p>
        </p:txBody>
      </p:sp>
      <p:sp>
        <p:nvSpPr>
          <p:cNvPr id="3" name="Content Placeholder 2"/>
          <p:cNvSpPr>
            <a:spLocks noGrp="1"/>
          </p:cNvSpPr>
          <p:nvPr>
            <p:ph idx="1"/>
          </p:nvPr>
        </p:nvSpPr>
        <p:spPr/>
        <p:txBody>
          <a:bodyPr>
            <a:normAutofit lnSpcReduction="10000"/>
          </a:bodyPr>
          <a:lstStyle/>
          <a:p>
            <a:r>
              <a:rPr lang="en-US" dirty="0"/>
              <a:t>The United States currently relies heavily on coal, oil, and natural gas for its energy. </a:t>
            </a:r>
          </a:p>
          <a:p>
            <a:r>
              <a:rPr lang="en-US" b="1" dirty="0"/>
              <a:t>Fossil fuels are nonrenewable</a:t>
            </a:r>
            <a:r>
              <a:rPr lang="en-US" dirty="0"/>
              <a:t>, that is, they draw on finite resources that will eventually dwindle, becoming too expensive or too environmentally damaging to retrieve. </a:t>
            </a:r>
          </a:p>
          <a:p>
            <a:r>
              <a:rPr lang="en-US" dirty="0"/>
              <a:t>In contrast, </a:t>
            </a:r>
            <a:r>
              <a:rPr lang="en-US" b="1" dirty="0"/>
              <a:t>renewable</a:t>
            </a:r>
            <a:r>
              <a:rPr lang="en-US" dirty="0"/>
              <a:t> energy resources—such as wind and solar energy—are constantly </a:t>
            </a:r>
            <a:r>
              <a:rPr lang="en-US" b="1" dirty="0"/>
              <a:t>replenished and will never run out</a:t>
            </a:r>
            <a:r>
              <a:rPr lang="en-US" dirty="0"/>
              <a:t>.</a:t>
            </a:r>
          </a:p>
        </p:txBody>
      </p:sp>
    </p:spTree>
    <p:extLst>
      <p:ext uri="{BB962C8B-B14F-4D97-AF65-F5344CB8AC3E}">
        <p14:creationId xmlns:p14="http://schemas.microsoft.com/office/powerpoint/2010/main" val="922288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Solar Energy Basics</a:t>
            </a:r>
          </a:p>
        </p:txBody>
      </p:sp>
      <p:sp>
        <p:nvSpPr>
          <p:cNvPr id="3" name="Content Placeholder 2"/>
          <p:cNvSpPr>
            <a:spLocks noGrp="1"/>
          </p:cNvSpPr>
          <p:nvPr>
            <p:ph idx="1"/>
          </p:nvPr>
        </p:nvSpPr>
        <p:spPr/>
        <p:txBody>
          <a:bodyPr>
            <a:normAutofit fontScale="70000" lnSpcReduction="20000"/>
          </a:bodyPr>
          <a:lstStyle/>
          <a:p>
            <a:r>
              <a:rPr lang="en-US" dirty="0"/>
              <a:t>Solar is the Latin word for </a:t>
            </a:r>
            <a:r>
              <a:rPr lang="en-US" b="1" dirty="0"/>
              <a:t>sun</a:t>
            </a:r>
            <a:r>
              <a:rPr lang="en-US" dirty="0"/>
              <a:t>—a powerful source of energy that can be used to heat, cool, and light our homes and businesses. </a:t>
            </a:r>
          </a:p>
          <a:p>
            <a:r>
              <a:rPr lang="en-US" dirty="0"/>
              <a:t>That's because </a:t>
            </a:r>
            <a:r>
              <a:rPr lang="en-US" b="1" dirty="0"/>
              <a:t>more energy from the sun falls on the earth in one hour than is used by everyone in the world in one year</a:t>
            </a:r>
            <a:r>
              <a:rPr lang="en-US" dirty="0"/>
              <a:t>. </a:t>
            </a:r>
          </a:p>
          <a:p>
            <a:r>
              <a:rPr lang="en-US" dirty="0"/>
              <a:t>A variety of technologies convert sunlight to usable energy for buildings. </a:t>
            </a:r>
          </a:p>
          <a:p>
            <a:r>
              <a:rPr lang="en-US" dirty="0"/>
              <a:t>The most commonly used solar technologies for </a:t>
            </a:r>
            <a:r>
              <a:rPr lang="en-US" b="1" dirty="0"/>
              <a:t>homes</a:t>
            </a:r>
            <a:r>
              <a:rPr lang="en-US" dirty="0"/>
              <a:t> and businesses are solar water heating, passive solar design for space heating and cooling, and solar </a:t>
            </a:r>
            <a:r>
              <a:rPr lang="en-US" dirty="0" err="1"/>
              <a:t>photovoltaics</a:t>
            </a:r>
            <a:r>
              <a:rPr lang="en-US" dirty="0"/>
              <a:t> for electricity.</a:t>
            </a:r>
          </a:p>
          <a:p>
            <a:r>
              <a:rPr lang="en-US" dirty="0"/>
              <a:t>Businesses and </a:t>
            </a:r>
            <a:r>
              <a:rPr lang="en-US" b="1" dirty="0"/>
              <a:t>industry</a:t>
            </a:r>
            <a:r>
              <a:rPr lang="en-US" dirty="0"/>
              <a:t> also use these technologies to diversify their energy sources, improve efficiency, and save money. </a:t>
            </a:r>
          </a:p>
          <a:p>
            <a:r>
              <a:rPr lang="en-US" dirty="0"/>
              <a:t>Solar photovoltaic and concentrating solar power technologies are also being used by developers and utilities to produce electricity on a </a:t>
            </a:r>
            <a:r>
              <a:rPr lang="en-US" b="1" dirty="0"/>
              <a:t>massive scale </a:t>
            </a:r>
            <a:r>
              <a:rPr lang="en-US" dirty="0"/>
              <a:t>to power cities and small towns.</a:t>
            </a:r>
          </a:p>
        </p:txBody>
      </p:sp>
      <p:pic>
        <p:nvPicPr>
          <p:cNvPr id="4" name="Picture 3"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51814" r="26374"/>
          <a:stretch/>
        </p:blipFill>
        <p:spPr>
          <a:xfrm>
            <a:off x="8242215" y="0"/>
            <a:ext cx="901785" cy="1860483"/>
          </a:xfrm>
          <a:prstGeom prst="rect">
            <a:avLst/>
          </a:prstGeom>
        </p:spPr>
      </p:pic>
    </p:spTree>
    <p:extLst>
      <p:ext uri="{BB962C8B-B14F-4D97-AF65-F5344CB8AC3E}">
        <p14:creationId xmlns:p14="http://schemas.microsoft.com/office/powerpoint/2010/main" val="383580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Solar technologies</a:t>
            </a:r>
          </a:p>
        </p:txBody>
      </p:sp>
      <p:sp>
        <p:nvSpPr>
          <p:cNvPr id="3" name="Content Placeholder 2"/>
          <p:cNvSpPr>
            <a:spLocks noGrp="1"/>
          </p:cNvSpPr>
          <p:nvPr>
            <p:ph idx="1"/>
          </p:nvPr>
        </p:nvSpPr>
        <p:spPr/>
        <p:txBody>
          <a:bodyPr>
            <a:normAutofit fontScale="77500" lnSpcReduction="20000"/>
          </a:bodyPr>
          <a:lstStyle/>
          <a:p>
            <a:r>
              <a:rPr lang="en-US" b="1" dirty="0"/>
              <a:t>Solar Photovoltaic Technology</a:t>
            </a:r>
            <a:r>
              <a:rPr lang="en-US" dirty="0"/>
              <a:t>: These technologies </a:t>
            </a:r>
            <a:br>
              <a:rPr lang="en-US" dirty="0"/>
            </a:br>
            <a:r>
              <a:rPr lang="en-US" dirty="0"/>
              <a:t>convert sunlight directly into electricity to power homes and businesses.  </a:t>
            </a:r>
          </a:p>
          <a:p>
            <a:r>
              <a:rPr lang="en-US" b="1" dirty="0"/>
              <a:t>Concentrating Solar Power</a:t>
            </a:r>
            <a:r>
              <a:rPr lang="en-US" dirty="0"/>
              <a:t>: These technologies harness heat from the sun to provide electricity for large power stations.  </a:t>
            </a:r>
          </a:p>
          <a:p>
            <a:r>
              <a:rPr lang="en-US" b="1" dirty="0"/>
              <a:t>Solar Process Heat</a:t>
            </a:r>
            <a:r>
              <a:rPr lang="en-US" dirty="0"/>
              <a:t>: These technologies use solar energy to heat or cool commercial and industrial buildings.  </a:t>
            </a:r>
          </a:p>
          <a:p>
            <a:r>
              <a:rPr lang="en-US" b="1" dirty="0"/>
              <a:t>Passive Solar Technology</a:t>
            </a:r>
            <a:r>
              <a:rPr lang="en-US" dirty="0"/>
              <a:t>: These technologies harness heat from the sun to warm our homes and businesses in winter.  </a:t>
            </a:r>
          </a:p>
          <a:p>
            <a:r>
              <a:rPr lang="en-US" b="1" dirty="0"/>
              <a:t>Solar Water Heating</a:t>
            </a:r>
            <a:r>
              <a:rPr lang="en-US" dirty="0"/>
              <a:t>: These technologies harness heat from the sun to provide hot water for homes and businesses.</a:t>
            </a:r>
          </a:p>
        </p:txBody>
      </p:sp>
      <p:sp>
        <p:nvSpPr>
          <p:cNvPr id="4" name="TextBox 3"/>
          <p:cNvSpPr txBox="1"/>
          <p:nvPr/>
        </p:nvSpPr>
        <p:spPr>
          <a:xfrm>
            <a:off x="5750748" y="6581001"/>
            <a:ext cx="3393252" cy="276999"/>
          </a:xfrm>
          <a:prstGeom prst="rect">
            <a:avLst/>
          </a:prstGeom>
          <a:noFill/>
        </p:spPr>
        <p:txBody>
          <a:bodyPr wrap="none" rtlCol="0">
            <a:spAutoFit/>
          </a:bodyPr>
          <a:lstStyle/>
          <a:p>
            <a:r>
              <a:rPr lang="en-US" sz="1200" dirty="0"/>
              <a:t>https://</a:t>
            </a:r>
            <a:r>
              <a:rPr lang="en-US" sz="1200" dirty="0" err="1"/>
              <a:t>www.nrel.gov</a:t>
            </a:r>
            <a:r>
              <a:rPr lang="en-US" sz="1200" dirty="0"/>
              <a:t>/</a:t>
            </a:r>
            <a:r>
              <a:rPr lang="en-US" sz="1200" dirty="0" err="1"/>
              <a:t>workingwithus</a:t>
            </a:r>
            <a:r>
              <a:rPr lang="en-US" sz="1200" dirty="0"/>
              <a:t>/re-</a:t>
            </a:r>
            <a:r>
              <a:rPr lang="en-US" sz="1200" dirty="0" err="1"/>
              <a:t>solar.html</a:t>
            </a:r>
            <a:endParaRPr lang="en-US" sz="1200" dirty="0"/>
          </a:p>
        </p:txBody>
      </p:sp>
      <p:pic>
        <p:nvPicPr>
          <p:cNvPr id="5" name="Picture 4"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51814" r="26374"/>
          <a:stretch/>
        </p:blipFill>
        <p:spPr>
          <a:xfrm>
            <a:off x="8242215" y="0"/>
            <a:ext cx="901785" cy="1860483"/>
          </a:xfrm>
          <a:prstGeom prst="rect">
            <a:avLst/>
          </a:prstGeom>
        </p:spPr>
      </p:pic>
    </p:spTree>
    <p:extLst>
      <p:ext uri="{BB962C8B-B14F-4D97-AF65-F5344CB8AC3E}">
        <p14:creationId xmlns:p14="http://schemas.microsoft.com/office/powerpoint/2010/main" val="2780140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 Energy Basics</a:t>
            </a:r>
          </a:p>
        </p:txBody>
      </p:sp>
      <p:sp>
        <p:nvSpPr>
          <p:cNvPr id="3" name="Content Placeholder 2"/>
          <p:cNvSpPr>
            <a:spLocks noGrp="1"/>
          </p:cNvSpPr>
          <p:nvPr>
            <p:ph idx="1"/>
          </p:nvPr>
        </p:nvSpPr>
        <p:spPr/>
        <p:txBody>
          <a:bodyPr>
            <a:normAutofit/>
          </a:bodyPr>
          <a:lstStyle/>
          <a:p>
            <a:r>
              <a:rPr lang="en-US" dirty="0"/>
              <a:t>We have been harnessing the wind's energy for hundreds of years. </a:t>
            </a:r>
          </a:p>
          <a:p>
            <a:r>
              <a:rPr lang="en-US" dirty="0"/>
              <a:t>From old Holland to farms in the United States, </a:t>
            </a:r>
            <a:r>
              <a:rPr lang="en-US" b="1" dirty="0"/>
              <a:t>windmills</a:t>
            </a:r>
            <a:r>
              <a:rPr lang="en-US" dirty="0"/>
              <a:t> have been used for pumping water or grinding </a:t>
            </a:r>
            <a:r>
              <a:rPr lang="en-US" b="1" dirty="0"/>
              <a:t>grain</a:t>
            </a:r>
            <a:r>
              <a:rPr lang="en-US" dirty="0"/>
              <a:t>. </a:t>
            </a:r>
          </a:p>
          <a:p>
            <a:r>
              <a:rPr lang="en-US" dirty="0"/>
              <a:t>Today, the windmill's modern equivalent—a wind turbine can use the wind's energy to generate electricity.</a:t>
            </a:r>
          </a:p>
          <a:p>
            <a:endParaRPr lang="en-US" dirty="0"/>
          </a:p>
        </p:txBody>
      </p:sp>
      <p:pic>
        <p:nvPicPr>
          <p:cNvPr id="5" name="Picture 4"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4362" r="73470"/>
          <a:stretch/>
        </p:blipFill>
        <p:spPr>
          <a:xfrm>
            <a:off x="8239064" y="0"/>
            <a:ext cx="895472" cy="1817780"/>
          </a:xfrm>
          <a:prstGeom prst="rect">
            <a:avLst/>
          </a:prstGeom>
        </p:spPr>
      </p:pic>
    </p:spTree>
    <p:extLst>
      <p:ext uri="{BB962C8B-B14F-4D97-AF65-F5344CB8AC3E}">
        <p14:creationId xmlns:p14="http://schemas.microsoft.com/office/powerpoint/2010/main" val="1572785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wind turbine works</a:t>
            </a:r>
          </a:p>
        </p:txBody>
      </p:sp>
      <p:sp>
        <p:nvSpPr>
          <p:cNvPr id="3" name="Content Placeholder 2"/>
          <p:cNvSpPr>
            <a:spLocks noGrp="1"/>
          </p:cNvSpPr>
          <p:nvPr>
            <p:ph idx="1"/>
          </p:nvPr>
        </p:nvSpPr>
        <p:spPr/>
        <p:txBody>
          <a:bodyPr>
            <a:normAutofit fontScale="70000" lnSpcReduction="20000"/>
          </a:bodyPr>
          <a:lstStyle/>
          <a:p>
            <a:r>
              <a:rPr lang="en-US" dirty="0"/>
              <a:t>Wind turbines, like </a:t>
            </a:r>
            <a:r>
              <a:rPr lang="en-US" b="1" dirty="0"/>
              <a:t>windmills</a:t>
            </a:r>
            <a:r>
              <a:rPr lang="en-US" dirty="0"/>
              <a:t>, are mounted on a tower to capture the most energy. At 100 feet (30 meters) or more aboveground, they can take advantage of the faster and less turbulent wind. Turbines catch the wind's energy with their propeller-like blades. </a:t>
            </a:r>
          </a:p>
          <a:p>
            <a:r>
              <a:rPr lang="en-US" dirty="0"/>
              <a:t>Usually, two or three </a:t>
            </a:r>
            <a:r>
              <a:rPr lang="en-US" b="1" dirty="0"/>
              <a:t>blades</a:t>
            </a:r>
            <a:r>
              <a:rPr lang="en-US" dirty="0"/>
              <a:t> are mounted on a shaft to form a rotor.  A blade acts much like an airplane wing. When the wind blows, a </a:t>
            </a:r>
            <a:r>
              <a:rPr lang="en-US" b="1" dirty="0"/>
              <a:t>pocket of low-pressure </a:t>
            </a:r>
            <a:r>
              <a:rPr lang="en-US" dirty="0"/>
              <a:t>air forms on the downwind side of the blade. The low-pressure air pocket then pulls the blade toward it, causing the rotor to turn. This is called </a:t>
            </a:r>
            <a:r>
              <a:rPr lang="en-US" b="1" dirty="0"/>
              <a:t>lift</a:t>
            </a:r>
            <a:r>
              <a:rPr lang="en-US" dirty="0"/>
              <a:t>. </a:t>
            </a:r>
          </a:p>
          <a:p>
            <a:r>
              <a:rPr lang="en-US" dirty="0"/>
              <a:t>The force of the lift is actually much stronger than the wind's force against the front side of the blade, which is called </a:t>
            </a:r>
            <a:r>
              <a:rPr lang="en-US" b="1" dirty="0"/>
              <a:t>drag</a:t>
            </a:r>
            <a:r>
              <a:rPr lang="en-US" dirty="0"/>
              <a:t>. </a:t>
            </a:r>
          </a:p>
          <a:p>
            <a:r>
              <a:rPr lang="en-US" dirty="0"/>
              <a:t>The combination of lift and drag causes the rotor to spin like a propeller, and the turning shaft spins a </a:t>
            </a:r>
            <a:r>
              <a:rPr lang="en-US" b="1" dirty="0"/>
              <a:t>generator</a:t>
            </a:r>
            <a:r>
              <a:rPr lang="en-US" dirty="0"/>
              <a:t> to make electricity.</a:t>
            </a:r>
          </a:p>
        </p:txBody>
      </p:sp>
      <p:pic>
        <p:nvPicPr>
          <p:cNvPr id="5" name="Picture 4"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4362" r="73470"/>
          <a:stretch/>
        </p:blipFill>
        <p:spPr>
          <a:xfrm>
            <a:off x="8239064" y="0"/>
            <a:ext cx="895472" cy="1817780"/>
          </a:xfrm>
          <a:prstGeom prst="rect">
            <a:avLst/>
          </a:prstGeom>
        </p:spPr>
      </p:pic>
    </p:spTree>
    <p:extLst>
      <p:ext uri="{BB962C8B-B14F-4D97-AF65-F5344CB8AC3E}">
        <p14:creationId xmlns:p14="http://schemas.microsoft.com/office/powerpoint/2010/main" val="3351879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 turbine applications</a:t>
            </a:r>
          </a:p>
        </p:txBody>
      </p:sp>
      <p:sp>
        <p:nvSpPr>
          <p:cNvPr id="3" name="Content Placeholder 2"/>
          <p:cNvSpPr>
            <a:spLocks noGrp="1"/>
          </p:cNvSpPr>
          <p:nvPr>
            <p:ph idx="1"/>
          </p:nvPr>
        </p:nvSpPr>
        <p:spPr/>
        <p:txBody>
          <a:bodyPr>
            <a:normAutofit fontScale="85000" lnSpcReduction="20000"/>
          </a:bodyPr>
          <a:lstStyle/>
          <a:p>
            <a:r>
              <a:rPr lang="en-US" dirty="0"/>
              <a:t>Wind turbines can be used as </a:t>
            </a:r>
            <a:r>
              <a:rPr lang="en-US" b="1" dirty="0"/>
              <a:t>stand-alone </a:t>
            </a:r>
            <a:r>
              <a:rPr lang="en-US" dirty="0"/>
              <a:t>applications, or they can be </a:t>
            </a:r>
            <a:r>
              <a:rPr lang="en-US" b="1" dirty="0"/>
              <a:t>connected</a:t>
            </a:r>
            <a:r>
              <a:rPr lang="en-US" dirty="0"/>
              <a:t> to a utility power grid or even combined with a photovoltaic (solar cell) system. </a:t>
            </a:r>
          </a:p>
          <a:p>
            <a:r>
              <a:rPr lang="en-US" dirty="0"/>
              <a:t>For </a:t>
            </a:r>
            <a:r>
              <a:rPr lang="en-US" b="1" dirty="0"/>
              <a:t>utility-scale </a:t>
            </a:r>
            <a:r>
              <a:rPr lang="en-US" dirty="0"/>
              <a:t>(megawatt-sized) sources of wind energy, a large number of wind turbines are usually built close together to form a wind plant, also referred to as a wind farm. Several electricity providers today use wind plants to supply power to their customers.  </a:t>
            </a:r>
          </a:p>
          <a:p>
            <a:r>
              <a:rPr lang="en-US" b="1" dirty="0"/>
              <a:t>Stand-alone</a:t>
            </a:r>
            <a:r>
              <a:rPr lang="en-US" dirty="0"/>
              <a:t> wind turbines are typically used for water pumping or communications. However, homeowners, farmers, and ranchers in windy areas can also use wind turbines as a way to cut their electric bills.</a:t>
            </a:r>
          </a:p>
        </p:txBody>
      </p:sp>
      <p:pic>
        <p:nvPicPr>
          <p:cNvPr id="5" name="Picture 4"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4362" r="73470"/>
          <a:stretch/>
        </p:blipFill>
        <p:spPr>
          <a:xfrm>
            <a:off x="8239064" y="0"/>
            <a:ext cx="895472" cy="1817780"/>
          </a:xfrm>
          <a:prstGeom prst="rect">
            <a:avLst/>
          </a:prstGeom>
        </p:spPr>
      </p:pic>
    </p:spTree>
    <p:extLst>
      <p:ext uri="{BB962C8B-B14F-4D97-AF65-F5344CB8AC3E}">
        <p14:creationId xmlns:p14="http://schemas.microsoft.com/office/powerpoint/2010/main" val="2146430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Biomass Energy Basics</a:t>
            </a:r>
          </a:p>
        </p:txBody>
      </p:sp>
      <p:sp>
        <p:nvSpPr>
          <p:cNvPr id="3" name="Content Placeholder 2"/>
          <p:cNvSpPr>
            <a:spLocks noGrp="1"/>
          </p:cNvSpPr>
          <p:nvPr>
            <p:ph idx="1"/>
          </p:nvPr>
        </p:nvSpPr>
        <p:spPr/>
        <p:txBody>
          <a:bodyPr>
            <a:normAutofit fontScale="77500" lnSpcReduction="20000"/>
          </a:bodyPr>
          <a:lstStyle/>
          <a:p>
            <a:r>
              <a:rPr lang="en-US" dirty="0"/>
              <a:t>We have used biomass energy, or "bioenergy"—the energy from plants and plant-derived materials—since people began burning wood to cook food and keep warm. </a:t>
            </a:r>
          </a:p>
          <a:p>
            <a:r>
              <a:rPr lang="en-US" dirty="0"/>
              <a:t>Wood is still the largest biomass energy resource today, but other sources of biomass can also be used. </a:t>
            </a:r>
          </a:p>
          <a:p>
            <a:r>
              <a:rPr lang="en-US" dirty="0"/>
              <a:t>These include food crops, grassy and woody plants, residues from agriculture or forestry, oil-rich algae, and the organic component of municipal and industrial wastes. </a:t>
            </a:r>
          </a:p>
          <a:p>
            <a:r>
              <a:rPr lang="en-US" dirty="0"/>
              <a:t>Even the fumes from landfills (which are methane, the main component in natural gas) can be used as a biomass energy source.</a:t>
            </a:r>
          </a:p>
        </p:txBody>
      </p:sp>
      <p:pic>
        <p:nvPicPr>
          <p:cNvPr id="4" name="Picture 3"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74605" r="3761"/>
          <a:stretch/>
        </p:blipFill>
        <p:spPr>
          <a:xfrm>
            <a:off x="8283837" y="0"/>
            <a:ext cx="805926" cy="1676401"/>
          </a:xfrm>
          <a:prstGeom prst="rect">
            <a:avLst/>
          </a:prstGeom>
        </p:spPr>
      </p:pic>
    </p:spTree>
    <p:extLst>
      <p:ext uri="{BB962C8B-B14F-4D97-AF65-F5344CB8AC3E}">
        <p14:creationId xmlns:p14="http://schemas.microsoft.com/office/powerpoint/2010/main" val="4034364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Geothermal Energy Basics</a:t>
            </a:r>
          </a:p>
        </p:txBody>
      </p:sp>
      <p:sp>
        <p:nvSpPr>
          <p:cNvPr id="3" name="Content Placeholder 2"/>
          <p:cNvSpPr>
            <a:spLocks noGrp="1"/>
          </p:cNvSpPr>
          <p:nvPr>
            <p:ph idx="1"/>
          </p:nvPr>
        </p:nvSpPr>
        <p:spPr/>
        <p:txBody>
          <a:bodyPr>
            <a:normAutofit fontScale="62500" lnSpcReduction="20000"/>
          </a:bodyPr>
          <a:lstStyle/>
          <a:p>
            <a:r>
              <a:rPr lang="en-US" dirty="0"/>
              <a:t>Many technologies have been developed to take advantage of geothermal energy—the heat from the earth. </a:t>
            </a:r>
          </a:p>
          <a:p>
            <a:r>
              <a:rPr lang="en-US" dirty="0"/>
              <a:t>This heat can be drawn from several sources: </a:t>
            </a:r>
            <a:r>
              <a:rPr lang="en-US" b="1" dirty="0"/>
              <a:t>hot water or steam reservoirs deep in the earth </a:t>
            </a:r>
            <a:r>
              <a:rPr lang="en-US" dirty="0"/>
              <a:t>that are accessed by drilling; geothermal reservoirs located near the earth's surface, mostly located in the western U.S., Alaska, and Hawaii; and the shallow ground near the Earth's surface that maintains a relatively constant temperature of 50-60°F.</a:t>
            </a:r>
          </a:p>
          <a:p>
            <a:r>
              <a:rPr lang="en-US" dirty="0"/>
              <a:t>This variety of geothermal resources allows them to be used on both large and small scales. A utility can use the hot water and steam from reservoirs to drive generators and produce </a:t>
            </a:r>
            <a:r>
              <a:rPr lang="en-US" b="1" dirty="0"/>
              <a:t>electricity</a:t>
            </a:r>
            <a:r>
              <a:rPr lang="en-US" dirty="0"/>
              <a:t> for its customers. </a:t>
            </a:r>
          </a:p>
          <a:p>
            <a:r>
              <a:rPr lang="en-US" dirty="0"/>
              <a:t>Other applications apply the heat produced from geothermal directly to various uses in buildings, roads, agriculture, and industrial plants. Still others use the </a:t>
            </a:r>
            <a:r>
              <a:rPr lang="en-US" b="1" dirty="0"/>
              <a:t>heat</a:t>
            </a:r>
            <a:r>
              <a:rPr lang="en-US" dirty="0"/>
              <a:t> directly from the ground to provide heating and cooling in homes and other buildings.</a:t>
            </a:r>
          </a:p>
        </p:txBody>
      </p:sp>
      <p:pic>
        <p:nvPicPr>
          <p:cNvPr id="4" name="Picture 3"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74605" r="3761"/>
          <a:stretch/>
        </p:blipFill>
        <p:spPr>
          <a:xfrm>
            <a:off x="8283837" y="0"/>
            <a:ext cx="805926" cy="1676401"/>
          </a:xfrm>
          <a:prstGeom prst="rect">
            <a:avLst/>
          </a:prstGeom>
        </p:spPr>
      </p:pic>
    </p:spTree>
    <p:extLst>
      <p:ext uri="{BB962C8B-B14F-4D97-AF65-F5344CB8AC3E}">
        <p14:creationId xmlns:p14="http://schemas.microsoft.com/office/powerpoint/2010/main" val="302178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Hydrogen Energy Basics</a:t>
            </a:r>
          </a:p>
        </p:txBody>
      </p:sp>
      <p:sp>
        <p:nvSpPr>
          <p:cNvPr id="3" name="Content Placeholder 2"/>
          <p:cNvSpPr>
            <a:spLocks noGrp="1"/>
          </p:cNvSpPr>
          <p:nvPr>
            <p:ph idx="1"/>
          </p:nvPr>
        </p:nvSpPr>
        <p:spPr/>
        <p:txBody>
          <a:bodyPr>
            <a:normAutofit lnSpcReduction="10000"/>
          </a:bodyPr>
          <a:lstStyle/>
          <a:p>
            <a:r>
              <a:rPr lang="en-US" dirty="0"/>
              <a:t>Hydrogen is a </a:t>
            </a:r>
            <a:r>
              <a:rPr lang="en-US" b="1" dirty="0"/>
              <a:t>clean-burning fuel</a:t>
            </a:r>
            <a:r>
              <a:rPr lang="en-US" dirty="0"/>
              <a:t>, and when combined with oxygen in a fuel cell, it produces heat and electricity with only water vapor as a by-product. </a:t>
            </a:r>
          </a:p>
          <a:p>
            <a:r>
              <a:rPr lang="en-US" dirty="0"/>
              <a:t>But hydrogen </a:t>
            </a:r>
            <a:r>
              <a:rPr lang="en-US" b="1" dirty="0"/>
              <a:t>does not exist freely in nature</a:t>
            </a:r>
            <a:r>
              <a:rPr lang="en-US" dirty="0"/>
              <a:t>: it is only produced from other sources of energy, so it is often referred to as an energy carrier, that is, an efficient way to store and transport energy.</a:t>
            </a:r>
          </a:p>
          <a:p>
            <a:endParaRPr lang="en-US" dirty="0"/>
          </a:p>
        </p:txBody>
      </p:sp>
      <p:pic>
        <p:nvPicPr>
          <p:cNvPr id="5" name="Picture 4"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28489" r="50679"/>
          <a:stretch/>
        </p:blipFill>
        <p:spPr>
          <a:xfrm>
            <a:off x="8186690" y="0"/>
            <a:ext cx="957310" cy="2067882"/>
          </a:xfrm>
          <a:prstGeom prst="rect">
            <a:avLst/>
          </a:prstGeom>
        </p:spPr>
      </p:pic>
    </p:spTree>
    <p:extLst>
      <p:ext uri="{BB962C8B-B14F-4D97-AF65-F5344CB8AC3E}">
        <p14:creationId xmlns:p14="http://schemas.microsoft.com/office/powerpoint/2010/main" val="1275227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Hydrogen Energy Basics</a:t>
            </a:r>
          </a:p>
        </p:txBody>
      </p:sp>
      <p:sp>
        <p:nvSpPr>
          <p:cNvPr id="3" name="Content Placeholder 2"/>
          <p:cNvSpPr>
            <a:spLocks noGrp="1"/>
          </p:cNvSpPr>
          <p:nvPr>
            <p:ph idx="1"/>
          </p:nvPr>
        </p:nvSpPr>
        <p:spPr/>
        <p:txBody>
          <a:bodyPr>
            <a:normAutofit fontScale="62500" lnSpcReduction="20000"/>
          </a:bodyPr>
          <a:lstStyle/>
          <a:p>
            <a:r>
              <a:rPr lang="en-US" dirty="0"/>
              <a:t>Hydrogen can be </a:t>
            </a:r>
            <a:r>
              <a:rPr lang="en-US" b="1" dirty="0"/>
              <a:t>made directly from fossil fuels or biomass</a:t>
            </a:r>
            <a:r>
              <a:rPr lang="en-US" dirty="0"/>
              <a:t>, or it can </a:t>
            </a:r>
            <a:br>
              <a:rPr lang="en-US" dirty="0"/>
            </a:br>
            <a:r>
              <a:rPr lang="en-US" dirty="0"/>
              <a:t>be produced by passing electricity through water, breaking the water </a:t>
            </a:r>
            <a:br>
              <a:rPr lang="en-US" dirty="0"/>
            </a:br>
            <a:r>
              <a:rPr lang="en-US" dirty="0"/>
              <a:t>into its constituent components of hydrogen and oxygen. </a:t>
            </a:r>
          </a:p>
          <a:p>
            <a:r>
              <a:rPr lang="en-US" dirty="0"/>
              <a:t>Some envision a future "</a:t>
            </a:r>
            <a:r>
              <a:rPr lang="en-US" b="1" dirty="0"/>
              <a:t>hydrogen economy</a:t>
            </a:r>
            <a:r>
              <a:rPr lang="en-US" dirty="0"/>
              <a:t>," where hydrogen is produced from a variety of energy sources, stored for later use, piped to where it is needed, and then converted cleanly into heat and electricity.  </a:t>
            </a:r>
          </a:p>
          <a:p>
            <a:r>
              <a:rPr lang="en-US" dirty="0"/>
              <a:t>Most hydrogen production today is by </a:t>
            </a:r>
            <a:r>
              <a:rPr lang="en-US" b="1" dirty="0"/>
              <a:t>steam reforming natural gas</a:t>
            </a:r>
            <a:r>
              <a:rPr lang="en-US" dirty="0"/>
              <a:t>. But natural gas is already a good fuel and one that is rapidly becoming scarcer and more expensive. </a:t>
            </a:r>
          </a:p>
          <a:p>
            <a:r>
              <a:rPr lang="en-US" dirty="0"/>
              <a:t>It is also a </a:t>
            </a:r>
            <a:r>
              <a:rPr lang="en-US" b="1" dirty="0"/>
              <a:t>fossil fuel</a:t>
            </a:r>
            <a:r>
              <a:rPr lang="en-US" dirty="0"/>
              <a:t>, so the carbon dioxide released in the reformation process adds to the greenhouse effect. </a:t>
            </a:r>
          </a:p>
          <a:p>
            <a:r>
              <a:rPr lang="en-US" dirty="0"/>
              <a:t>Hydrogen has very high energy for its weight, but very low energy for its volume, so new technology is needed to </a:t>
            </a:r>
            <a:r>
              <a:rPr lang="en-US" b="1" dirty="0"/>
              <a:t>store</a:t>
            </a:r>
            <a:r>
              <a:rPr lang="en-US" dirty="0"/>
              <a:t> and transport it. </a:t>
            </a:r>
          </a:p>
          <a:p>
            <a:r>
              <a:rPr lang="en-US" dirty="0"/>
              <a:t>And fuel cell technology is still in </a:t>
            </a:r>
            <a:r>
              <a:rPr lang="en-US" b="1" dirty="0"/>
              <a:t>early development</a:t>
            </a:r>
            <a:r>
              <a:rPr lang="en-US" dirty="0"/>
              <a:t>, needing improvements in efficiency and durability.</a:t>
            </a:r>
          </a:p>
        </p:txBody>
      </p:sp>
      <p:pic>
        <p:nvPicPr>
          <p:cNvPr id="5" name="Picture 4" descr="Renewable-Energies.jpg"/>
          <p:cNvPicPr>
            <a:picLocks noChangeAspect="1"/>
          </p:cNvPicPr>
          <p:nvPr/>
        </p:nvPicPr>
        <p:blipFill rotWithShape="1">
          <a:blip r:embed="rId2">
            <a:extLst>
              <a:ext uri="{28A0092B-C50C-407E-A947-70E740481C1C}">
                <a14:useLocalDpi xmlns:a14="http://schemas.microsoft.com/office/drawing/2010/main" val="0"/>
              </a:ext>
            </a:extLst>
          </a:blip>
          <a:srcRect l="28489" r="50679"/>
          <a:stretch/>
        </p:blipFill>
        <p:spPr>
          <a:xfrm>
            <a:off x="8186690" y="0"/>
            <a:ext cx="957310" cy="2067882"/>
          </a:xfrm>
          <a:prstGeom prst="rect">
            <a:avLst/>
          </a:prstGeom>
        </p:spPr>
      </p:pic>
    </p:spTree>
    <p:extLst>
      <p:ext uri="{BB962C8B-B14F-4D97-AF65-F5344CB8AC3E}">
        <p14:creationId xmlns:p14="http://schemas.microsoft.com/office/powerpoint/2010/main" val="1420200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 Grids</a:t>
            </a:r>
          </a:p>
        </p:txBody>
      </p:sp>
      <p:pic>
        <p:nvPicPr>
          <p:cNvPr id="4" name="Picture 3" descr="smartgrid.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3396"/>
            <a:ext cx="9144000" cy="4949190"/>
          </a:xfrm>
          <a:prstGeom prst="rect">
            <a:avLst/>
          </a:prstGeom>
        </p:spPr>
      </p:pic>
      <p:sp>
        <p:nvSpPr>
          <p:cNvPr id="5" name="TextBox 4"/>
          <p:cNvSpPr txBox="1"/>
          <p:nvPr/>
        </p:nvSpPr>
        <p:spPr>
          <a:xfrm>
            <a:off x="3816901" y="6578144"/>
            <a:ext cx="5327099" cy="276999"/>
          </a:xfrm>
          <a:prstGeom prst="rect">
            <a:avLst/>
          </a:prstGeom>
          <a:noFill/>
        </p:spPr>
        <p:txBody>
          <a:bodyPr wrap="none" rtlCol="0">
            <a:spAutoFit/>
          </a:bodyPr>
          <a:lstStyle/>
          <a:p>
            <a:r>
              <a:rPr lang="en-US" sz="1200" dirty="0"/>
              <a:t>http://</a:t>
            </a:r>
            <a:r>
              <a:rPr lang="en-US" sz="1200" dirty="0" err="1"/>
              <a:t>viterbivoices.usc.edu</a:t>
            </a:r>
            <a:r>
              <a:rPr lang="en-US" sz="1200" dirty="0"/>
              <a:t>/</a:t>
            </a:r>
            <a:r>
              <a:rPr lang="en-US" sz="1200" dirty="0" err="1"/>
              <a:t>zachg</a:t>
            </a:r>
            <a:r>
              <a:rPr lang="en-US" sz="1200" dirty="0"/>
              <a:t>/getting-smart-with-the-</a:t>
            </a:r>
            <a:r>
              <a:rPr lang="en-US" sz="1200" dirty="0" err="1"/>
              <a:t>usc</a:t>
            </a:r>
            <a:r>
              <a:rPr lang="en-US" sz="1200" dirty="0"/>
              <a:t>-smart-grid-project/</a:t>
            </a:r>
          </a:p>
        </p:txBody>
      </p:sp>
    </p:spTree>
    <p:extLst>
      <p:ext uri="{BB962C8B-B14F-4D97-AF65-F5344CB8AC3E}">
        <p14:creationId xmlns:p14="http://schemas.microsoft.com/office/powerpoint/2010/main" val="1286307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D1F8-DB76-9241-98F0-87FF0D7ECEE3}"/>
              </a:ext>
            </a:extLst>
          </p:cNvPr>
          <p:cNvSpPr>
            <a:spLocks noGrp="1"/>
          </p:cNvSpPr>
          <p:nvPr>
            <p:ph type="title"/>
          </p:nvPr>
        </p:nvSpPr>
        <p:spPr/>
        <p:txBody>
          <a:bodyPr/>
          <a:lstStyle/>
          <a:p>
            <a:r>
              <a:rPr lang="en-US" dirty="0"/>
              <a:t>TED talk</a:t>
            </a:r>
          </a:p>
        </p:txBody>
      </p:sp>
      <p:sp>
        <p:nvSpPr>
          <p:cNvPr id="3" name="Content Placeholder 2">
            <a:extLst>
              <a:ext uri="{FF2B5EF4-FFF2-40B4-BE49-F238E27FC236}">
                <a16:creationId xmlns:a16="http://schemas.microsoft.com/office/drawing/2014/main" id="{2F6937A4-0EEB-6541-AA17-E40CCD68FDFD}"/>
              </a:ext>
            </a:extLst>
          </p:cNvPr>
          <p:cNvSpPr>
            <a:spLocks noGrp="1"/>
          </p:cNvSpPr>
          <p:nvPr>
            <p:ph idx="1"/>
          </p:nvPr>
        </p:nvSpPr>
        <p:spPr/>
        <p:txBody>
          <a:bodyPr/>
          <a:lstStyle/>
          <a:p>
            <a:r>
              <a:rPr lang="en-US" dirty="0"/>
              <a:t>Renewable energy</a:t>
            </a:r>
          </a:p>
          <a:p>
            <a:r>
              <a:rPr lang="en-US" dirty="0"/>
              <a:t>https://</a:t>
            </a:r>
            <a:r>
              <a:rPr lang="en-US" dirty="0" err="1"/>
              <a:t>www.ted.com</a:t>
            </a:r>
            <a:r>
              <a:rPr lang="en-US" dirty="0"/>
              <a:t>/talks/</a:t>
            </a:r>
            <a:r>
              <a:rPr lang="en-US" dirty="0" err="1"/>
              <a:t>david_mackay_a_reality_check_on_renewables</a:t>
            </a:r>
            <a:endParaRPr lang="en-US" dirty="0"/>
          </a:p>
          <a:p>
            <a:endParaRPr lang="en-US" dirty="0"/>
          </a:p>
        </p:txBody>
      </p:sp>
    </p:spTree>
    <p:extLst>
      <p:ext uri="{BB962C8B-B14F-4D97-AF65-F5344CB8AC3E}">
        <p14:creationId xmlns:p14="http://schemas.microsoft.com/office/powerpoint/2010/main" val="1954666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“The Story of Stuff”</a:t>
            </a:r>
          </a:p>
        </p:txBody>
      </p:sp>
      <p:sp>
        <p:nvSpPr>
          <p:cNvPr id="3" name="Content Placeholder 2"/>
          <p:cNvSpPr>
            <a:spLocks noGrp="1"/>
          </p:cNvSpPr>
          <p:nvPr>
            <p:ph idx="1"/>
          </p:nvPr>
        </p:nvSpPr>
        <p:spPr>
          <a:xfrm>
            <a:off x="457200" y="1600199"/>
            <a:ext cx="8229600" cy="5013569"/>
          </a:xfrm>
        </p:spPr>
        <p:txBody>
          <a:bodyPr>
            <a:normAutofit fontScale="77500" lnSpcReduction="20000"/>
          </a:bodyPr>
          <a:lstStyle/>
          <a:p>
            <a:r>
              <a:rPr lang="en-US" b="1" dirty="0"/>
              <a:t>We have a problem with Stuff</a:t>
            </a:r>
            <a:r>
              <a:rPr lang="en-US" dirty="0"/>
              <a:t>: We have </a:t>
            </a:r>
            <a:br>
              <a:rPr lang="en-US" dirty="0"/>
            </a:br>
            <a:r>
              <a:rPr lang="en-US" dirty="0"/>
              <a:t>too much of it, too much of it is toxic and </a:t>
            </a:r>
            <a:br>
              <a:rPr lang="en-US" dirty="0"/>
            </a:br>
            <a:r>
              <a:rPr lang="en-US" dirty="0"/>
              <a:t>we don’t share it very well. But that’s not </a:t>
            </a:r>
            <a:br>
              <a:rPr lang="en-US" dirty="0"/>
            </a:br>
            <a:r>
              <a:rPr lang="en-US" dirty="0"/>
              <a:t>the way things have to be.  </a:t>
            </a:r>
          </a:p>
          <a:p>
            <a:r>
              <a:rPr lang="en-US" dirty="0"/>
              <a:t>That’s the </a:t>
            </a:r>
            <a:r>
              <a:rPr lang="en-US" b="1" dirty="0"/>
              <a:t>challenge</a:t>
            </a:r>
            <a:r>
              <a:rPr lang="en-US" dirty="0"/>
              <a:t> Annie Leonard </a:t>
            </a:r>
            <a:br>
              <a:rPr lang="en-US" dirty="0"/>
            </a:br>
            <a:r>
              <a:rPr lang="en-US" dirty="0"/>
              <a:t>unpacked in her groundbreaking </a:t>
            </a:r>
            <a:br>
              <a:rPr lang="en-US" dirty="0"/>
            </a:br>
            <a:r>
              <a:rPr lang="en-US" dirty="0"/>
              <a:t>2007 online documentary.</a:t>
            </a:r>
          </a:p>
          <a:p>
            <a:r>
              <a:rPr lang="en-US" dirty="0"/>
              <a:t>It unleashed a demand for honest </a:t>
            </a:r>
            <a:br>
              <a:rPr lang="en-US" dirty="0"/>
            </a:br>
            <a:r>
              <a:rPr lang="en-US" b="1" dirty="0"/>
              <a:t>conversation</a:t>
            </a:r>
            <a:r>
              <a:rPr lang="en-US" dirty="0"/>
              <a:t> about our </a:t>
            </a:r>
            <a:br>
              <a:rPr lang="en-US" dirty="0"/>
            </a:br>
            <a:r>
              <a:rPr lang="en-US" dirty="0"/>
              <a:t>consumption-crazed culture.</a:t>
            </a:r>
          </a:p>
          <a:p>
            <a:pPr marL="514350" indent="-514350">
              <a:buFont typeface="+mj-lt"/>
              <a:buAutoNum type="arabicPeriod"/>
            </a:pPr>
            <a:r>
              <a:rPr lang="en-US" dirty="0"/>
              <a:t>The Story of Stuff</a:t>
            </a:r>
          </a:p>
          <a:p>
            <a:pPr marL="514350" indent="-514350">
              <a:buFont typeface="+mj-lt"/>
              <a:buAutoNum type="arabicPeriod"/>
            </a:pPr>
            <a:r>
              <a:rPr lang="en-US" dirty="0"/>
              <a:t>The Story of Electronics</a:t>
            </a:r>
          </a:p>
          <a:p>
            <a:pPr marL="514350" indent="-514350">
              <a:buFont typeface="+mj-lt"/>
              <a:buAutoNum type="arabicPeriod"/>
            </a:pPr>
            <a:r>
              <a:rPr lang="en-US" dirty="0"/>
              <a:t>The Story of Solutions</a:t>
            </a:r>
          </a:p>
          <a:p>
            <a:pPr marL="514350" indent="-514350">
              <a:buFont typeface="+mj-lt"/>
              <a:buAutoNum type="arabicPeriod"/>
            </a:pPr>
            <a:r>
              <a:rPr lang="en-US" dirty="0"/>
              <a:t>And more</a:t>
            </a:r>
            <a:r>
              <a:rPr lang="mr-IN" dirty="0"/>
              <a:t>…</a:t>
            </a:r>
            <a:r>
              <a:rPr lang="en-US" dirty="0"/>
              <a:t> (see references)</a:t>
            </a:r>
          </a:p>
        </p:txBody>
      </p:sp>
      <p:pic>
        <p:nvPicPr>
          <p:cNvPr id="5" name="Picture 4" descr="12525249_10154764330380884_8745532356743498907_o-1-600x600.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1000" y="3175000"/>
            <a:ext cx="3683000" cy="3683000"/>
          </a:xfrm>
          <a:prstGeom prst="rect">
            <a:avLst/>
          </a:prstGeom>
        </p:spPr>
      </p:pic>
      <p:pic>
        <p:nvPicPr>
          <p:cNvPr id="6" name="Picture 5"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7773" y="235562"/>
            <a:ext cx="3360615" cy="1849849"/>
          </a:xfrm>
          <a:prstGeom prst="rect">
            <a:avLst/>
          </a:prstGeom>
        </p:spPr>
      </p:pic>
    </p:spTree>
    <p:extLst>
      <p:ext uri="{BB962C8B-B14F-4D97-AF65-F5344CB8AC3E}">
        <p14:creationId xmlns:p14="http://schemas.microsoft.com/office/powerpoint/2010/main" val="572773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Today’s task: discussion</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We have a problem with Stuff: </a:t>
            </a:r>
            <a:br>
              <a:rPr lang="en-US" dirty="0"/>
            </a:br>
            <a:r>
              <a:rPr lang="en-US" dirty="0"/>
              <a:t>We have too much of it, too much </a:t>
            </a:r>
            <a:br>
              <a:rPr lang="en-US" dirty="0"/>
            </a:br>
            <a:r>
              <a:rPr lang="en-US" dirty="0"/>
              <a:t>of it is toxic and we don’t share it very well. </a:t>
            </a:r>
            <a:br>
              <a:rPr lang="en-US" dirty="0"/>
            </a:br>
            <a:r>
              <a:rPr lang="en-US" dirty="0"/>
              <a:t>Where do you see that?</a:t>
            </a:r>
          </a:p>
          <a:p>
            <a:pPr marL="514350" indent="-514350">
              <a:buFont typeface="+mj-lt"/>
              <a:buAutoNum type="arabicPeriod"/>
            </a:pPr>
            <a:r>
              <a:rPr lang="en-US" dirty="0"/>
              <a:t>The Story of Electronics: What did you learn?</a:t>
            </a:r>
          </a:p>
          <a:p>
            <a:pPr marL="514350" indent="-514350">
              <a:buFont typeface="+mj-lt"/>
              <a:buAutoNum type="arabicPeriod"/>
            </a:pPr>
            <a:r>
              <a:rPr lang="en-US" dirty="0"/>
              <a:t>The Story of Solutions: What could those be?</a:t>
            </a:r>
          </a:p>
        </p:txBody>
      </p:sp>
      <p:pic>
        <p:nvPicPr>
          <p:cNvPr id="4" name="Picture 3" descr="download.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1442" y="0"/>
            <a:ext cx="2642557" cy="2678107"/>
          </a:xfrm>
          <a:prstGeom prst="rect">
            <a:avLst/>
          </a:prstGeom>
        </p:spPr>
      </p:pic>
    </p:spTree>
    <p:extLst>
      <p:ext uri="{BB962C8B-B14F-4D97-AF65-F5344CB8AC3E}">
        <p14:creationId xmlns:p14="http://schemas.microsoft.com/office/powerpoint/2010/main" val="2089373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pic>
        <p:nvPicPr>
          <p:cNvPr id="4" name="Picture 3" descr="downloa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4597" y="52056"/>
            <a:ext cx="1828800" cy="1600200"/>
          </a:xfrm>
          <a:prstGeom prst="rect">
            <a:avLst/>
          </a:prstGeom>
        </p:spPr>
      </p:pic>
      <p:sp>
        <p:nvSpPr>
          <p:cNvPr id="6" name="Content Placeholder 5"/>
          <p:cNvSpPr>
            <a:spLocks noGrp="1"/>
          </p:cNvSpPr>
          <p:nvPr>
            <p:ph idx="1"/>
          </p:nvPr>
        </p:nvSpPr>
        <p:spPr/>
        <p:txBody>
          <a:bodyPr>
            <a:normAutofit fontScale="77500" lnSpcReduction="20000"/>
          </a:bodyPr>
          <a:lstStyle/>
          <a:p>
            <a:r>
              <a:rPr lang="en-US" dirty="0"/>
              <a:t>Learning About Renewable Energy</a:t>
            </a:r>
            <a:br>
              <a:rPr lang="en-US" dirty="0"/>
            </a:br>
            <a:r>
              <a:rPr lang="en-US" dirty="0"/>
              <a:t>https://</a:t>
            </a:r>
            <a:r>
              <a:rPr lang="en-US" dirty="0" err="1"/>
              <a:t>www.nrel.gov</a:t>
            </a:r>
            <a:r>
              <a:rPr lang="en-US" dirty="0"/>
              <a:t>/</a:t>
            </a:r>
            <a:r>
              <a:rPr lang="en-US" dirty="0" err="1"/>
              <a:t>workingwithus</a:t>
            </a:r>
            <a:r>
              <a:rPr lang="en-US" dirty="0"/>
              <a:t>/</a:t>
            </a:r>
            <a:r>
              <a:rPr lang="en-US" dirty="0" err="1"/>
              <a:t>learning.html</a:t>
            </a:r>
            <a:endParaRPr lang="en-US" dirty="0"/>
          </a:p>
          <a:p>
            <a:r>
              <a:rPr lang="en-US" dirty="0"/>
              <a:t>https://ohs9sciencestelr.weebly.com/renewable-energy-</a:t>
            </a:r>
            <a:r>
              <a:rPr lang="en-US" dirty="0" err="1"/>
              <a:t>sources.html</a:t>
            </a:r>
            <a:endParaRPr lang="en-US" dirty="0"/>
          </a:p>
          <a:p>
            <a:r>
              <a:rPr lang="en-US" dirty="0"/>
              <a:t>http://</a:t>
            </a:r>
            <a:r>
              <a:rPr lang="en-US" dirty="0" err="1"/>
              <a:t>viterbivoices.usc.edu</a:t>
            </a:r>
            <a:r>
              <a:rPr lang="en-US" dirty="0"/>
              <a:t>/</a:t>
            </a:r>
            <a:r>
              <a:rPr lang="en-US" dirty="0" err="1"/>
              <a:t>zachg</a:t>
            </a:r>
            <a:r>
              <a:rPr lang="en-US" dirty="0"/>
              <a:t>/getting-smart-with-the-</a:t>
            </a:r>
            <a:r>
              <a:rPr lang="en-US" dirty="0" err="1"/>
              <a:t>usc</a:t>
            </a:r>
            <a:r>
              <a:rPr lang="en-US" dirty="0"/>
              <a:t>-smart-grid-project/</a:t>
            </a:r>
          </a:p>
          <a:p>
            <a:r>
              <a:rPr lang="en-US" dirty="0"/>
              <a:t>Story of stuff movies </a:t>
            </a:r>
            <a:br>
              <a:rPr lang="en-US" dirty="0"/>
            </a:br>
            <a:r>
              <a:rPr lang="en-US" dirty="0"/>
              <a:t>https://</a:t>
            </a:r>
            <a:r>
              <a:rPr lang="en-US" dirty="0" err="1"/>
              <a:t>storyofstuff.org</a:t>
            </a:r>
            <a:r>
              <a:rPr lang="en-US" dirty="0"/>
              <a:t>/movies/story-of-stuff/</a:t>
            </a:r>
            <a:br>
              <a:rPr lang="en-US" dirty="0"/>
            </a:br>
            <a:r>
              <a:rPr lang="en-US" dirty="0"/>
              <a:t>https://</a:t>
            </a:r>
            <a:r>
              <a:rPr lang="en-US" dirty="0" err="1"/>
              <a:t>storyofstuff.org</a:t>
            </a:r>
            <a:r>
              <a:rPr lang="en-US" dirty="0"/>
              <a:t>/movies/story-of-electronics/ </a:t>
            </a:r>
            <a:br>
              <a:rPr lang="en-US" dirty="0"/>
            </a:br>
            <a:r>
              <a:rPr lang="en-US" dirty="0"/>
              <a:t>https://</a:t>
            </a:r>
            <a:r>
              <a:rPr lang="en-US" dirty="0" err="1"/>
              <a:t>storyofstuff.org</a:t>
            </a:r>
            <a:r>
              <a:rPr lang="en-US" dirty="0"/>
              <a:t>/movies/the-story-of-solutions/</a:t>
            </a:r>
          </a:p>
          <a:p>
            <a:r>
              <a:rPr lang="en-US" dirty="0"/>
              <a:t>http://</a:t>
            </a:r>
            <a:r>
              <a:rPr lang="en-US" dirty="0" err="1"/>
              <a:t>storyofstuff.org</a:t>
            </a:r>
            <a:r>
              <a:rPr lang="en-US" dirty="0"/>
              <a:t>//</a:t>
            </a:r>
            <a:r>
              <a:rPr lang="en-US" dirty="0" err="1"/>
              <a:t>wp</a:t>
            </a:r>
            <a:r>
              <a:rPr lang="en-US" dirty="0"/>
              <a:t>-content/uploads/movies/scripts/</a:t>
            </a:r>
            <a:r>
              <a:rPr lang="en-US" dirty="0" err="1"/>
              <a:t>StoryofStuff_FactSheet.pdf</a:t>
            </a:r>
            <a:endParaRPr lang="en-US" dirty="0"/>
          </a:p>
          <a:p>
            <a:endParaRPr lang="en-US" dirty="0"/>
          </a:p>
        </p:txBody>
      </p:sp>
    </p:spTree>
    <p:extLst>
      <p:ext uri="{BB962C8B-B14F-4D97-AF65-F5344CB8AC3E}">
        <p14:creationId xmlns:p14="http://schemas.microsoft.com/office/powerpoint/2010/main" val="559248021"/>
      </p:ext>
    </p:extLst>
  </p:cSld>
  <p:clrMapOvr>
    <a:masterClrMapping/>
  </p:clrMapOvr>
</p:sld>
</file>

<file path=ppt/theme/theme1.xml><?xml version="1.0" encoding="utf-8"?>
<a:theme xmlns:a="http://schemas.openxmlformats.org/drawingml/2006/main" name="ENGR 39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1132</Words>
  <Application>Microsoft Macintosh PowerPoint</Application>
  <PresentationFormat>On-screen Show (4:3)</PresentationFormat>
  <Paragraphs>88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ENGR 390</vt:lpstr>
      <vt:lpstr>ENGR 390 – Information and Communication Technology for Sustainability “Renewable energy and smart grids: Production and potential”</vt:lpstr>
      <vt:lpstr>Overview</vt:lpstr>
      <vt:lpstr>Renewable energy</vt:lpstr>
      <vt:lpstr>Renewable energy overview</vt:lpstr>
      <vt:lpstr>Energy: Status quo</vt:lpstr>
      <vt:lpstr>Solar Energy Basics</vt:lpstr>
      <vt:lpstr>Solar technologies</vt:lpstr>
      <vt:lpstr>Wind Energy Basics</vt:lpstr>
      <vt:lpstr>How a wind turbine works</vt:lpstr>
      <vt:lpstr>Wind turbine applications</vt:lpstr>
      <vt:lpstr>Biomass Energy Basics</vt:lpstr>
      <vt:lpstr>Geothermal Energy Basics</vt:lpstr>
      <vt:lpstr>Hydrogen Energy Basics</vt:lpstr>
      <vt:lpstr>Hydrogen Energy Basics</vt:lpstr>
      <vt:lpstr>Smart Grids</vt:lpstr>
      <vt:lpstr>TED talk</vt:lpstr>
      <vt:lpstr>“The Story of Stuff”</vt:lpstr>
      <vt:lpstr>Today’s task: discussion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Birgit Penzenstadler</dc:creator>
  <cp:lastModifiedBy>Birgit Penzenstadler</cp:lastModifiedBy>
  <cp:revision>204</cp:revision>
  <cp:lastPrinted>2018-01-24T00:15:07Z</cp:lastPrinted>
  <dcterms:created xsi:type="dcterms:W3CDTF">2018-01-22T03:10:46Z</dcterms:created>
  <dcterms:modified xsi:type="dcterms:W3CDTF">2019-02-04T06:29:29Z</dcterms:modified>
</cp:coreProperties>
</file>